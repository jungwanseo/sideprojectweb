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286000"/>
            <a:ext cx="12191695" cy="73152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640080" y="2468880"/>
            <a:ext cx="10911535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4000" b="1">
                <a:solidFill>
                  <a:srgbClr val="1F3864"/>
                </a:solidFill>
              </a:rPr>
              <a:t>동적 쿼리: Specification vs QueryDSL</a:t>
            </a:r>
          </a:p>
          <a:p>
            <a:pPr>
              <a:spcBef>
                <a:spcPts val="1000"/>
              </a:spcBef>
            </a:pPr>
            <a:r>
              <a:rPr sz="1800">
                <a:solidFill>
                  <a:srgbClr val="666666"/>
                </a:solidFill>
              </a:rPr>
              <a:t>상품 검색/필터를 어떻게 구현할까 — commerce-api 기술 의사결정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문제 — 왜 '동적 쿼리'인가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</a:rPr>
              <a:t>상품 검색/필터: 조건이 각각 선택적이다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1091153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키워드(</a:t>
            </a:r>
            <a:r>
              <a:rPr sz="1800">
                <a:solidFill>
                  <a:srgbClr val="2E6BE6"/>
                </a:solidFill>
                <a:latin typeface="Consolas"/>
              </a:rPr>
              <a:t>name</a:t>
            </a:r>
            <a:r>
              <a:rPr sz="1800">
                <a:solidFill>
                  <a:srgbClr val="222222"/>
                </a:solidFill>
              </a:rPr>
              <a:t>), 최소가, 최대가 — 들어올 수도, 안 들어올 수도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메서드명 파생 쿼리는 </a:t>
            </a:r>
            <a:r>
              <a:rPr b="1" sz="1800">
                <a:solidFill>
                  <a:srgbClr val="222222"/>
                </a:solidFill>
              </a:rPr>
              <a:t>조합 폭발</a:t>
            </a:r>
            <a:r>
              <a:rPr sz="1800">
                <a:solidFill>
                  <a:srgbClr val="222222"/>
                </a:solidFill>
              </a:rPr>
              <a:t>: </a:t>
            </a:r>
            <a:r>
              <a:rPr sz="1800">
                <a:solidFill>
                  <a:srgbClr val="2E6BE6"/>
                </a:solidFill>
                <a:latin typeface="Consolas"/>
              </a:rPr>
              <a:t>findByName...</a:t>
            </a:r>
            <a:r>
              <a:rPr sz="1800">
                <a:solidFill>
                  <a:srgbClr val="222222"/>
                </a:solidFill>
              </a:rPr>
              <a:t>, </a:t>
            </a:r>
            <a:r>
              <a:rPr sz="1800">
                <a:solidFill>
                  <a:srgbClr val="2E6BE6"/>
                </a:solidFill>
                <a:latin typeface="Consolas"/>
              </a:rPr>
              <a:t>...AndPriceBetween</a:t>
            </a:r>
            <a:r>
              <a:rPr sz="1800">
                <a:solidFill>
                  <a:srgbClr val="222222"/>
                </a:solidFill>
              </a:rPr>
              <a:t>, </a:t>
            </a:r>
            <a:r>
              <a:rPr sz="1800">
                <a:solidFill>
                  <a:srgbClr val="2E6BE6"/>
                </a:solidFill>
                <a:latin typeface="Consolas"/>
              </a:rPr>
              <a:t>...AndPriceGoe</a:t>
            </a:r>
            <a:r>
              <a:rPr sz="1800">
                <a:solidFill>
                  <a:srgbClr val="222222"/>
                </a:solidFill>
              </a:rPr>
              <a:t> …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조건이 런타임에 켜졌다/꺼졌다 → </a:t>
            </a:r>
            <a:r>
              <a:rPr b="1" sz="1800">
                <a:solidFill>
                  <a:srgbClr val="222222"/>
                </a:solidFill>
              </a:rPr>
              <a:t>정적 메서드로는 한계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그래서 "조건을 동적으로 조립"하는 도구가 필요 → Specification 또는 QueryDSL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두 후보 한눈에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11534" cy="243230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637178"/>
                <a:gridCol w="3637178"/>
                <a:gridCol w="3637178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항목</a:t>
                      </a:r>
                    </a:p>
                  </a:txBody>
                  <a:tcPr anchor="ctr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Specification</a:t>
                      </a:r>
                    </a:p>
                  </a:txBody>
                  <a:tcPr anchor="ctr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QueryDSL</a:t>
                      </a:r>
                    </a:p>
                  </a:txBody>
                  <a:tcPr anchor="ctr" marT="27432" marB="27432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소속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Spring Data JPA 내장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외부 라이브러리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기반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JPA Criteria API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자체 DSL(Q타입)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의존성/빌드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추가 없음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APT로 Q클래스 생성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가독성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장황한 편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좋음(LINQ 느낌)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타입 안전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중간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강함(컴파일 체크)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동적 조건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Specification 조합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BooleanBuilder/where 조합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코드 — Specification (JPA 내장)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</a:rPr>
              <a:t>추가 의존성 없이, 그러나 다소 장황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2798064"/>
          </a:xfrm>
          <a:prstGeom prst="roundRect">
            <a:avLst/>
          </a:prstGeom>
          <a:solidFill>
            <a:srgbClr val="F2F4F7"/>
          </a:solidFill>
          <a:ln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200">
                <a:solidFill>
                  <a:srgbClr val="222222"/>
                </a:solidFill>
                <a:latin typeface="Consolas"/>
              </a:rPr>
              <a:t>// repo: extends JpaSpecificationExecutor&lt;Product&gt;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static Specification&lt;Product&gt; search(String kw, Long min, Long max) {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return (root, query, cb) -&gt; {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var ps = new ArrayList&lt;Predicate&gt;();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if (kw  != null) ps.add(cb.like(root.get("name"), "%" + kw + "%"));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if (min != null) ps.add(cb.ge(root.get("price"), min));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if (max != null) ps.add(cb.le(root.get("price"), max));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return cb.and(ps.toArray(new Predicate[0]));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};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}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productRepository.findAll(search(kw, min, max), pageable);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91456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root.get("name")은 문자열 — 오타는 런타임에 발견된다.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코드 — QueryDSL (외부 라이브러리)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</a:rPr>
              <a:t>Q타입으로 타입 안전, LINQ 같은 가독성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" y="1828800"/>
            <a:ext cx="10911535" cy="2798064"/>
          </a:xfrm>
          <a:prstGeom prst="roundRect">
            <a:avLst/>
          </a:prstGeom>
          <a:solidFill>
            <a:srgbClr val="F2F4F7"/>
          </a:solidFill>
          <a:ln>
            <a:solidFill>
              <a:srgbClr val="D5DBE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 lIns="164592" tIns="73152"/>
          <a:lstStyle/>
          <a:p>
            <a:pPr algn="ctr"/>
            <a:r>
              <a:rPr sz="1200">
                <a:solidFill>
                  <a:srgbClr val="222222"/>
                </a:solidFill>
                <a:latin typeface="Consolas"/>
              </a:rPr>
              <a:t>// product = QProduct.product (엔티티에서 자동 생성된 Q타입)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var where = new BooleanBuilder();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if (kw  != null) where.and(product.name.contains(kw));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if (min != null) where.and(product.price.goe(min));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if (max != null) where.and(product.price.loe(max));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List&lt;Product&gt; rows = queryFactory.selectFrom(product)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.where(where)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.offset(pageable.getOffset())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.limit(pageable.getPageSize())</a:t>
            </a:r>
          </a:p>
          <a:p>
            <a:r>
              <a:rPr sz="1200">
                <a:solidFill>
                  <a:srgbClr val="222222"/>
                </a:solidFill>
                <a:latin typeface="Consolas"/>
              </a:rPr>
              <a:t>    .fetch();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4791456"/>
            <a:ext cx="10911535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300" i="1">
                <a:solidFill>
                  <a:srgbClr val="666666"/>
                </a:solidFill>
              </a:rPr>
              <a:t>product.name 오타는 컴파일 단계에서 잡힌다.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.NET 개발자 관점 (transfer)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b="1" sz="1800">
                <a:solidFill>
                  <a:srgbClr val="222222"/>
                </a:solidFill>
              </a:rPr>
              <a:t>QueryDSL ≈ LINQ to Entities</a:t>
            </a:r>
            <a:r>
              <a:rPr sz="1800">
                <a:solidFill>
                  <a:srgbClr val="222222"/>
                </a:solidFill>
              </a:rPr>
              <a:t> — </a:t>
            </a:r>
            <a:r>
              <a:rPr sz="1800">
                <a:solidFill>
                  <a:srgbClr val="2E6BE6"/>
                </a:solidFill>
                <a:latin typeface="Consolas"/>
              </a:rPr>
              <a:t>Where(p =&gt; p.Price &gt;= min)</a:t>
            </a:r>
            <a:r>
              <a:rPr sz="1800">
                <a:solidFill>
                  <a:srgbClr val="222222"/>
                </a:solidFill>
              </a:rPr>
              <a:t>의 강타입·조립형 경험 그대로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b="1" sz="1800">
                <a:solidFill>
                  <a:srgbClr val="222222"/>
                </a:solidFill>
              </a:rPr>
              <a:t>Specification ≈ Expression 직접 조립</a:t>
            </a:r>
            <a:r>
              <a:rPr sz="1800">
                <a:solidFill>
                  <a:srgbClr val="222222"/>
                </a:solidFill>
              </a:rPr>
              <a:t> — IQueryable에 조건을 수동으로 쌓는 느낌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즉 LINQ에 익숙하면 </a:t>
            </a:r>
            <a:r>
              <a:rPr b="1" sz="1800">
                <a:solidFill>
                  <a:srgbClr val="222222"/>
                </a:solidFill>
              </a:rPr>
              <a:t>QueryDSL 진입장벽이 낮다</a:t>
            </a:r>
            <a:r>
              <a:rPr sz="1800">
                <a:solidFill>
                  <a:srgbClr val="222222"/>
                </a:solidFill>
              </a:rPr>
              <a:t> (개념 전이)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단, "익숙함"은 도입의 약한 근거 — 팀 컨벤션·유지보수 비용이 우선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한국 시장 현실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1371600"/>
            <a:ext cx="10911535" cy="140817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QueryDSL은 한국 Spring 백엔드에서 </a:t>
            </a:r>
            <a:r>
              <a:rPr b="1" sz="1800">
                <a:solidFill>
                  <a:srgbClr val="222222"/>
                </a:solidFill>
              </a:rPr>
              <a:t>사실상 표준급 인기</a:t>
            </a:r>
            <a:r>
              <a:rPr sz="1800">
                <a:solidFill>
                  <a:srgbClr val="222222"/>
                </a:solidFill>
              </a:rPr>
              <a:t> (채용 우대사항 다수)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그러나 </a:t>
            </a:r>
            <a:r>
              <a:rPr b="1" sz="1800">
                <a:solidFill>
                  <a:srgbClr val="222222"/>
                </a:solidFill>
              </a:rPr>
              <a:t>MyBatis 진영도 거대</a:t>
            </a:r>
            <a:r>
              <a:rPr sz="1800">
                <a:solidFill>
                  <a:srgbClr val="222222"/>
                </a:solidFill>
              </a:rPr>
              <a:t> — SI·금융·공공은 SQL 직접 통제 선호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큰 갈림은 결국 </a:t>
            </a:r>
            <a:r>
              <a:rPr b="1" sz="1800">
                <a:solidFill>
                  <a:srgbClr val="222222"/>
                </a:solidFill>
              </a:rPr>
              <a:t>JPA/QueryDSL 진영 ↔ MyBatis 진영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"어떤 회사는 안 쓴다"가 맞다 → 도구 자체보다 </a:t>
            </a:r>
            <a:r>
              <a:rPr b="1" sz="1800">
                <a:solidFill>
                  <a:srgbClr val="222222"/>
                </a:solidFill>
              </a:rPr>
              <a:t>왜 골랐는지 설명력</a:t>
            </a:r>
            <a:r>
              <a:rPr sz="1800">
                <a:solidFill>
                  <a:srgbClr val="222222"/>
                </a:solidFill>
              </a:rPr>
              <a:t>이 중요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65760"/>
            <a:ext cx="10911535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2700" b="1">
                <a:solidFill>
                  <a:srgbClr val="1F3864"/>
                </a:solidFill>
              </a:rPr>
              <a:t>결정 기준 — commerce-api</a:t>
            </a:r>
          </a:p>
        </p:txBody>
      </p:sp>
      <p:sp>
        <p:nvSpPr>
          <p:cNvPr id="3" name="Rectangle 2"/>
          <p:cNvSpPr/>
          <p:nvPr/>
        </p:nvSpPr>
        <p:spPr>
          <a:xfrm>
            <a:off x="640080" y="1115568"/>
            <a:ext cx="2011680" cy="38100"/>
          </a:xfrm>
          <a:prstGeom prst="rect">
            <a:avLst/>
          </a:prstGeom>
          <a:solidFill>
            <a:srgbClr val="2E6BE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1371600"/>
          <a:ext cx="10911534" cy="138988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55767"/>
                <a:gridCol w="5455767"/>
              </a:tblGrid>
              <a:tr h="347472"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상황</a:t>
                      </a:r>
                    </a:p>
                  </a:txBody>
                  <a:tcPr anchor="ctr" marT="27432" marB="27432">
                    <a:solidFill>
                      <a:srgbClr val="1F386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 b="1">
                          <a:solidFill>
                            <a:srgbClr val="FFFFFF"/>
                          </a:solidFill>
                        </a:rPr>
                        <a:t>권장</a:t>
                      </a:r>
                    </a:p>
                  </a:txBody>
                  <a:tcPr anchor="ctr" marT="27432" marB="27432">
                    <a:solidFill>
                      <a:srgbClr val="1F3864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조건 2~3개·의존성 최소화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Specification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동적 조건 많음·타입 안전·가독성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QueryDSL</a:t>
                      </a:r>
                    </a:p>
                  </a:txBody>
                  <a:tcPr anchor="ctr" marT="27432" marB="27432">
                    <a:solidFill>
                      <a:srgbClr val="F6F8FB"/>
                    </a:solidFill>
                  </a:tcPr>
                </a:tc>
              </a:tr>
              <a:tr h="347472"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학습/포폴 목적(전이 강점 살리기)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sz="1300">
                          <a:solidFill>
                            <a:srgbClr val="222222"/>
                          </a:solidFill>
                        </a:rPr>
                        <a:t>QueryDSL 한 번 경험 + 근거 기록</a:t>
                      </a:r>
                    </a:p>
                  </a:txBody>
                  <a:tcPr anchor="ctr" marT="27432" marB="27432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640080" y="2990088"/>
            <a:ext cx="10911535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sz="1800" b="1">
                <a:solidFill>
                  <a:srgbClr val="1F3864"/>
                </a:solidFill>
              </a:rPr>
              <a:t>이 프로젝트의 잠정 선택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3447288"/>
            <a:ext cx="10911535" cy="7498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학습 목적 + .NET(LINQ) 전이 강점 → </a:t>
            </a:r>
            <a:r>
              <a:rPr b="1" sz="1800">
                <a:solidFill>
                  <a:srgbClr val="222222"/>
                </a:solidFill>
              </a:rPr>
              <a:t>QueryDSL로 검색/필터 구현 시도</a:t>
            </a:r>
          </a:p>
          <a:p>
            <a:pPr marL="0" indent="0">
              <a:spcAft>
                <a:spcPts val="500"/>
              </a:spcAft>
            </a:pPr>
            <a:r>
              <a:rPr sz="1800" b="1">
                <a:solidFill>
                  <a:srgbClr val="2E6BE6"/>
                </a:solidFill>
              </a:rPr>
              <a:t>•  </a:t>
            </a:r>
            <a:r>
              <a:rPr sz="1800">
                <a:solidFill>
                  <a:srgbClr val="222222"/>
                </a:solidFill>
              </a:rPr>
              <a:t>최종 결정과 근거는 </a:t>
            </a:r>
            <a:r>
              <a:rPr sz="1800">
                <a:solidFill>
                  <a:srgbClr val="2E6BE6"/>
                </a:solidFill>
                <a:latin typeface="Consolas"/>
              </a:rPr>
              <a:t>docs/dev-log.md</a:t>
            </a:r>
            <a:r>
              <a:rPr sz="1800">
                <a:solidFill>
                  <a:srgbClr val="222222"/>
                </a:solidFill>
              </a:rPr>
              <a:t>에 남긴다 (도구보다 의사결정 과정이 포트폴리오 자산)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